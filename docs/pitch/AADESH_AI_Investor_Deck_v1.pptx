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  ·   ₹25 LAKH   ·  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97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ಆದೇಶ 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Aadesh AI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3200400" y="2395728"/>
            <a:ext cx="27432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542032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AI Drafting System for Sarakari Kannada Government Orders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9923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ಸರಕಾರಿ ಕನ್ನಡ ಆದೇಶ ರಚನೆಗೆ ಭಾರತದ ಮೊದಲ AI ವ್ಯವಸ್ಥೆ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474720"/>
            <a:ext cx="20116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5204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922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NOW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66160" y="3474720"/>
            <a:ext cx="20116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35204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 to Start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66160" y="3922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ORDER FREE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09360" y="3474720"/>
            <a:ext cx="201168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352044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1,500+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39227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MARKET (KA)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hello@aadesh-ai.in   ·   aadesh-ai.in   ·   Bengaluru, Karnataka, India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37744"/>
          </a:xfrm>
          <a:prstGeom prst="rect">
            <a:avLst>
              <a:gd name="adj" fmla="val 15385"/>
            </a:avLst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1,500 Officers. Zero AI. ₹2,000 Per Draft.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ಅಧಿಕಾರಿಗಳು. ಯಾವ AI ಸಾಧನವೂ ಇಲ್ಲ. ದೈನಂದಿನ ರಚನಾ ಬಿಕ್ಕಟ್ಟು.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2715768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1627632"/>
            <a:ext cx="905256" cy="905256"/>
          </a:xfrm>
          <a:prstGeom prst="ellipse">
            <a:avLst/>
          </a:prstGeom>
          <a:solidFill>
            <a:srgbClr val="3B2012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16736" y="1627632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7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633472"/>
            <a:ext cx="2532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7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₹1,000–₹2,000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2532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Order to Typist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438144"/>
            <a:ext cx="2532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ಪ್ರತಿ ಆದೇಶಕ್ಕೆ ಟೈಪಿಸ್ಟ್ ಶುಲ್ಕ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767328"/>
            <a:ext cx="2532888" cy="36576"/>
          </a:xfrm>
          <a:prstGeom prst="rect">
            <a:avLst/>
          </a:prstGeom>
          <a:solidFill>
            <a:srgbClr val="8A4826"/>
          </a:solidFill>
          <a:ln w="12700">
            <a:solidFill>
              <a:srgbClr val="8A48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840480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 pays from own pocket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310128" y="1444752"/>
            <a:ext cx="2715768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15384" y="1627632"/>
            <a:ext cx="905256" cy="905256"/>
          </a:xfrm>
          <a:prstGeom prst="ellipse">
            <a:avLst/>
          </a:prstGeom>
          <a:solidFill>
            <a:srgbClr val="2E1C0A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15384" y="1627632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⏱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401568" y="2633472"/>
            <a:ext cx="2532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1–3 Hours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01568" y="3127248"/>
            <a:ext cx="2532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Draft One Order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01568" y="3438144"/>
            <a:ext cx="2532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ಒಂದು ಆದೇಶ ಬರೆಯಲು 1–3 ಗಂಟೆ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01568" y="3767328"/>
            <a:ext cx="2532888" cy="36576"/>
          </a:xfrm>
          <a:prstGeom prst="rect">
            <a:avLst/>
          </a:prstGeom>
          <a:solidFill>
            <a:srgbClr val="714C18"/>
          </a:solidFill>
          <a:ln w="12700">
            <a:solidFill>
              <a:srgbClr val="714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01568" y="3840480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Sarakari Kannada required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08776" y="1444752"/>
            <a:ext cx="2715768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14032" y="1627632"/>
            <a:ext cx="905256" cy="905256"/>
          </a:xfrm>
          <a:prstGeom prst="ellipse">
            <a:avLst/>
          </a:prstGeom>
          <a:solidFill>
            <a:srgbClr val="0A2D30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1627632"/>
            <a:ext cx="905256" cy="9052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0216" y="2633472"/>
            <a:ext cx="25328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300216" y="3127248"/>
            <a:ext cx="25328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Available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0216" y="3438144"/>
            <a:ext cx="25328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ಸರಕಾರಿ ಕನ್ನಡಕ್ಕೆ AI ಸಾಧನ ಇಲ್ಲ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300216" y="3767328"/>
            <a:ext cx="2532888" cy="36576"/>
          </a:xfrm>
          <a:prstGeom prst="rect">
            <a:avLst/>
          </a:prstGeom>
          <a:solidFill>
            <a:srgbClr val="0C6268"/>
          </a:solidFill>
          <a:ln w="12700">
            <a:solidFill>
              <a:srgbClr val="0C62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3840480"/>
            <a:ext cx="25328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5 independent AI models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37744"/>
          </a:xfrm>
          <a:prstGeom prst="rect">
            <a:avLst>
              <a:gd name="adj" fmla="val 15385"/>
            </a:avLst>
          </a:prstGeom>
          <a:solidFill>
            <a:srgbClr val="02C4B0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vs. After — 5 Minutes, Not 3 Hours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ಆದೇಶ AI — ನಿಮ್ಮ AI ಕರಡುಗಾರ. ನಿಮ್ಮ ಶೈಲಿ ಕಲಿಯುತ್ತದೆ.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3474720" cy="3108960"/>
          </a:xfrm>
          <a:prstGeom prst="rect">
            <a:avLst/>
          </a:prstGeom>
          <a:solidFill>
            <a:srgbClr val="1A0A0A"/>
          </a:solidFill>
          <a:ln w="12700">
            <a:solidFill>
              <a:srgbClr val="2A0C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ಮೊದಲು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Call a typist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Wait 1–3 hours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0662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Pay ₹1,000–₹2,000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Spelling errors in Kannada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5478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No standard format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9684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 Rewrite if officer objects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77640" y="2468880"/>
            <a:ext cx="1005840" cy="731520"/>
          </a:xfrm>
          <a:prstGeom prst="rightArrow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3246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Aadesh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074920" y="1463040"/>
            <a:ext cx="3657600" cy="3108960"/>
          </a:xfrm>
          <a:prstGeom prst="rect">
            <a:avLst/>
          </a:prstGeom>
          <a:solidFill>
            <a:srgbClr val="0A1A14"/>
          </a:solidFill>
          <a:ln w="12700">
            <a:solidFill>
              <a:srgbClr val="1A4A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4630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/ ನಂತರ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186537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Upload past 5–30 orders (ONE TIME)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12080" y="2286000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Upload new case PDF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706624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AI reads &amp; extracts all facts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12080" y="31272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Officer verifies — Entity Lock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12080" y="354787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Draft ready in 5 minutes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3968496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Zero Kannada spelling errors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37744"/>
          </a:xfrm>
          <a:prstGeom prst="rect">
            <a:avLst>
              <a:gd name="adj" fmla="val 1538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₹40–50 Crore Untouched Market in Karnataka Alone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ಕರ್ನಾಟಕದಲ್ಲಿ ₹40–50 ಕೋಟಿ ಮಾರುಕಟ್ಟೆ — ಯಾರೂ ಮುಟ್ಟಿಲ್ಲ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8229600" cy="987552"/>
          </a:xfrm>
          <a:prstGeom prst="rect">
            <a:avLst/>
          </a:prstGeom>
          <a:solidFill>
            <a:srgbClr val="1A1A3E"/>
          </a:solidFill>
          <a:ln w="12700">
            <a:solidFill>
              <a:srgbClr val="3B20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0472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 |  All Indian Govt Order Drafting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79222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97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₹2,500 Cr+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383280" y="1609344"/>
            <a:ext cx="50292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states × avg. 5,000 officers × ₹1,800/order avg.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14400" y="2505456"/>
            <a:ext cx="7315200" cy="987552"/>
          </a:xfrm>
          <a:prstGeom prst="rect">
            <a:avLst/>
          </a:prstGeom>
          <a:solidFill>
            <a:srgbClr val="0F2030"/>
          </a:solidFill>
          <a:ln w="12700">
            <a:solidFill>
              <a:srgbClr val="2E1C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551176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 |  Karnataka Sarakari Kannada Officers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8529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₹40–50 Cr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40480" y="2670048"/>
            <a:ext cx="4114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 officers × 30 orders/month × ₹499 avg. price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371600" y="3566160"/>
            <a:ext cx="6400800" cy="841248"/>
          </a:xfrm>
          <a:prstGeom prst="rect">
            <a:avLst/>
          </a:prstGeom>
          <a:solidFill>
            <a:srgbClr val="0A2A20"/>
          </a:solidFill>
          <a:ln w="12700">
            <a:solidFill>
              <a:srgbClr val="112B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361188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 |  Phase 1 Target (12 months)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08760" y="3913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₹2.5–3 Cr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97680" y="3730752"/>
            <a:ext cx="3200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 active officers × 5 offices × ₹4,999 pack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37744"/>
          </a:xfrm>
          <a:prstGeom prst="rect">
            <a:avLst>
              <a:gd name="adj" fmla="val 15385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— PHASE 0 LIVE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Product. Real Pilot. Real Results.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ನೇರ ಉತ್ಪನ್ನ. ನಿಜವಾದ ಪ್ರಾಯೋಗಿಕ. ಅಳೆಯಬಹುದಾದ ಫಲಿತಾಂಶ.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1828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1554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7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576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224278"/>
            <a:ext cx="1645920" cy="311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Orders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550262"/>
            <a:ext cx="1645920" cy="255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Sarakari Kannada corpus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444752"/>
            <a:ext cx="1828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14600" y="1536192"/>
            <a:ext cx="1554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89.2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468880" y="2224278"/>
            <a:ext cx="1645920" cy="311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/ 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550262"/>
            <a:ext cx="1645920" cy="255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95 / 100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43400" y="1444752"/>
            <a:ext cx="1828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536192"/>
            <a:ext cx="1554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7+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4434840" y="2224278"/>
            <a:ext cx="1645920" cy="311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Testers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434840" y="2550262"/>
            <a:ext cx="1645920" cy="255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Officers &amp; advocates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1444752"/>
            <a:ext cx="1828800" cy="1417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1536192"/>
            <a:ext cx="155448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D3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49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400800" y="2224278"/>
            <a:ext cx="1645920" cy="3118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Credits Loaded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550262"/>
            <a:ext cx="1645920" cy="2551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DDLR pilot — Bangalore South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017520"/>
            <a:ext cx="832104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926080"/>
            <a:ext cx="182880" cy="182880"/>
          </a:xfrm>
          <a:prstGeom prst="ellipse">
            <a:avLst/>
          </a:prstGeom>
          <a:solidFill>
            <a:srgbClr val="02C4B0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" y="3163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716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built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 orders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86000" y="2926080"/>
            <a:ext cx="182880" cy="182880"/>
          </a:xfrm>
          <a:prstGeom prst="ellipse">
            <a:avLst/>
          </a:prstGeom>
          <a:solidFill>
            <a:srgbClr val="02C4B0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0" y="3163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2026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01168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Vision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51960" y="2926080"/>
            <a:ext cx="182880" cy="182880"/>
          </a:xfrm>
          <a:prstGeom prst="ellipse">
            <a:avLst/>
          </a:prstGeom>
          <a:solidFill>
            <a:srgbClr val="02C4B0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3163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7764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officer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217920" y="2926080"/>
            <a:ext cx="182880" cy="182880"/>
          </a:xfrm>
          <a:prstGeom prst="ellipse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163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94360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772400" y="2926080"/>
            <a:ext cx="182880" cy="1828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0" y="31638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498080" y="3383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 Committee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3950208"/>
            <a:ext cx="8321040" cy="640080"/>
          </a:xfrm>
          <a:prstGeom prst="rect">
            <a:avLst/>
          </a:prstGeom>
          <a:solidFill>
            <a:srgbClr val="0A2A20"/>
          </a:solidFill>
          <a:ln w="12700">
            <a:solidFill>
              <a:srgbClr val="1E5A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3986784"/>
            <a:ext cx="7955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DDLR Revenue Officer — Bangalore South: 49 credits loaded, actively using system   |   Quality score improved from 72 → 89.2 through clarifying questions + self-correction loop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37744"/>
          </a:xfrm>
          <a:prstGeom prst="rect">
            <a:avLst>
              <a:gd name="adj" fmla="val 15385"/>
            </a:avLst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Per-Order Pricing — Zero Subscription Lock-in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ಪ್ರತಿ ಆದೇಶಕ್ಕೆ ಶುಲ್ಕ — ಚಂದಾದಾರಿಕೆ ಬಂಧನವಿಲ್ಲ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627632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554480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899A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20040" y="2212848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78608"/>
            <a:ext cx="1261872" cy="36576"/>
          </a:xfrm>
          <a:prstGeom prst="rect">
            <a:avLst/>
          </a:prstGeom>
          <a:solidFill>
            <a:srgbClr val="40495C"/>
          </a:solidFill>
          <a:ln w="12700">
            <a:solidFill>
              <a:srgbClr val="4049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68833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305409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ever order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risk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993392" y="1417320"/>
            <a:ext cx="1627632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39112" y="1554480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EB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₹499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039112" y="2212848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176272" y="2578608"/>
            <a:ext cx="1261872" cy="36576"/>
          </a:xfrm>
          <a:prstGeom prst="rect">
            <a:avLst/>
          </a:prstGeom>
          <a:solidFill>
            <a:srgbClr val="4A5060"/>
          </a:solidFill>
          <a:ln w="12700">
            <a:solidFill>
              <a:srgbClr val="4A50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39112" y="268833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order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39112" y="305409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as you go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₹499/order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712464" y="1417320"/>
            <a:ext cx="1627632" cy="3200400"/>
          </a:xfrm>
          <a:prstGeom prst="rect">
            <a:avLst/>
          </a:prstGeom>
          <a:solidFill>
            <a:srgbClr val="1A2800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12464" y="1417320"/>
            <a:ext cx="1627632" cy="292608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2464" y="1417320"/>
            <a:ext cx="1627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3758184" y="1828800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97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₹999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758184" y="2487168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95344" y="2852928"/>
            <a:ext cx="1261872" cy="36576"/>
          </a:xfrm>
          <a:prstGeom prst="rect">
            <a:avLst/>
          </a:prstGeom>
          <a:solidFill>
            <a:srgbClr val="3B2012"/>
          </a:solidFill>
          <a:ln w="12700">
            <a:solidFill>
              <a:srgbClr val="3B201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58184" y="296265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orders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58184" y="332841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33%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₹333/order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31536" y="1417320"/>
            <a:ext cx="1627632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77256" y="1554480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₹1,999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477256" y="2212848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614416" y="2578608"/>
            <a:ext cx="1261872" cy="36576"/>
          </a:xfrm>
          <a:prstGeom prst="rect">
            <a:avLst/>
          </a:prstGeom>
          <a:solidFill>
            <a:srgbClr val="2E1C0A"/>
          </a:solidFill>
          <a:ln w="12700">
            <a:solidFill>
              <a:srgbClr val="2E1C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77256" y="268833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orders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77256" y="305409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43%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₹285/order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50608" y="1417320"/>
            <a:ext cx="1627632" cy="3200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96328" y="1554480"/>
            <a:ext cx="1536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₹4,999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196328" y="2212848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Power20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33488" y="2578608"/>
            <a:ext cx="1261872" cy="36576"/>
          </a:xfrm>
          <a:prstGeom prst="rect">
            <a:avLst/>
          </a:prstGeom>
          <a:solidFill>
            <a:srgbClr val="0A2D30"/>
          </a:solidFill>
          <a:ln w="12700">
            <a:solidFill>
              <a:srgbClr val="0A2D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96328" y="2688336"/>
            <a:ext cx="15361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orders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196328" y="3054096"/>
            <a:ext cx="15361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50%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₹250/order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681728"/>
            <a:ext cx="8595360" cy="201168"/>
          </a:xfrm>
          <a:prstGeom prst="rect">
            <a:avLst/>
          </a:prstGeom>
          <a:solidFill>
            <a:srgbClr val="0A1A0A"/>
          </a:solidFill>
          <a:ln w="12700">
            <a:solidFill>
              <a:srgbClr val="1E5A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68172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vs. Typist: ₹499 single order saves ₹500–₹1,500 per draft   |   Annual50 pack (₹9,999 / 50 orders) = ₹200/order → 8–10× cheaper than typist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37744"/>
          </a:xfrm>
          <a:prstGeom prst="rect">
            <a:avLst>
              <a:gd name="adj" fmla="val 1538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 Margins. Zero COGS at Scale.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ಉತ್ತಮ ಲಾಭಾಂಶ. ವ್ಯಾಪ್ತಿಯಲ್ಲಿ ಶೂನ್ಯ ವೆಚ್ಚ.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44752"/>
            <a:ext cx="39319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9047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Per-Order Economics  /  ಪ್ರತಿ ಆದೇಶದ ಅರ್ಥಶಾಸ್ತ್ರ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95681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(avg. pack price)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54680" y="19568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₹333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cost / order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54680" y="23774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~₹18–25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79806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+ infra / order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154680" y="279806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~₹5–8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321868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(2%)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54680" y="321868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~₹6–10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84448"/>
            <a:ext cx="3749040" cy="36576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63931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/ order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54680" y="363931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~₹295–304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0599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54680" y="405993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~88–91%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444752"/>
            <a:ext cx="4160520" cy="3246120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490472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Revenue Projection  /  ₹ ಆದಾಯ ಅಂದಾಜು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63440" y="1938528"/>
            <a:ext cx="397764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9751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(now)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54880" y="22494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₹0–10K/mo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83680" y="19751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officers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583680" y="22494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trial + early adopters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663440" y="2615184"/>
            <a:ext cx="397764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(6 mo)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292608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₹75K–1L/mo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83680" y="265176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officers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83680" y="29260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offices onboarded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3291840"/>
            <a:ext cx="397764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33284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(12 mo)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54880" y="360273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₹3–4L/mo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0" y="33284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officers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583680" y="36027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offices, Track 2 deals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663440" y="3968496"/>
            <a:ext cx="3977640" cy="62179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0" y="40050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(18 mo)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54880" y="42793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₹8–12L/mo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583680" y="400507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officers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583680" y="42793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District-wide rollout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37744"/>
          </a:xfrm>
          <a:prstGeom prst="rect">
            <a:avLst>
              <a:gd name="adj" fmla="val 15385"/>
            </a:avLst>
          </a:prstGeom>
          <a:solidFill>
            <a:srgbClr val="02C4B0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Direct Competitors — 6–18 Month Window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ನೇರ ಸ್ಪರ್ಧಿಗಳಿಲ್ಲ — 6–18 ತಿಂಗಳ ಕಿಟಕಿ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8321040" cy="292608"/>
          </a:xfrm>
          <a:prstGeom prst="rect">
            <a:avLst/>
          </a:prstGeom>
          <a:solidFill>
            <a:srgbClr val="0A1A2A"/>
          </a:solidFill>
          <a:ln w="12700">
            <a:solidFill>
              <a:srgbClr val="0C626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by 5 independent AI research models: No product exists for Sarakari Kannada government order drafting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764792"/>
            <a:ext cx="128016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647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691640" y="1764792"/>
            <a:ext cx="141732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91640" y="176479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1764792"/>
            <a:ext cx="141732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08960" y="176479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26280" y="1764792"/>
            <a:ext cx="137160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6280" y="1764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Learning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97880" y="1764792"/>
            <a:ext cx="1463040" cy="320040"/>
          </a:xfrm>
          <a:prstGeom prst="rect">
            <a:avLst/>
          </a:prstGeom>
          <a:solidFill>
            <a:srgbClr val="1A237E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7647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Orders?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2084832"/>
            <a:ext cx="12801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0848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LexLegis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91640" y="2084832"/>
            <a:ext cx="14173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20848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08960" y="2084832"/>
            <a:ext cx="14173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208483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26280" y="2084832"/>
            <a:ext cx="13716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208483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97880" y="2084832"/>
            <a:ext cx="14630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0848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2432304"/>
            <a:ext cx="12801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1480" y="243230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VakilAI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1691640" y="2432304"/>
            <a:ext cx="14173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91640" y="243230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108960" y="2432304"/>
            <a:ext cx="14173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108960" y="243230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26280" y="2432304"/>
            <a:ext cx="13716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26280" y="243230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897880" y="2432304"/>
            <a:ext cx="14630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243230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11480" y="2779776"/>
            <a:ext cx="12801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" y="277977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 Tools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691640" y="2779776"/>
            <a:ext cx="14173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91640" y="277977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Tracking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108960" y="2779776"/>
            <a:ext cx="14173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0" y="2779776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526280" y="2779776"/>
            <a:ext cx="13716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26280" y="277977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897880" y="2779776"/>
            <a:ext cx="14630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897880" y="277977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track only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11480" y="3127248"/>
            <a:ext cx="12801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11480" y="31272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DocXplor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691640" y="3127248"/>
            <a:ext cx="14173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91640" y="31272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Records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08960" y="3127248"/>
            <a:ext cx="14173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08960" y="312724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Multi-Indian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26280" y="3127248"/>
            <a:ext cx="13716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26280" y="312724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897880" y="3127248"/>
            <a:ext cx="14630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897880" y="312724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— land only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11480" y="3474720"/>
            <a:ext cx="128016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11480" y="34747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ChatGPT/Gemini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1691640" y="3474720"/>
            <a:ext cx="14173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91640" y="3474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108960" y="3474720"/>
            <a:ext cx="141732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108960" y="347472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26280" y="3474720"/>
            <a:ext cx="137160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2628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897880" y="3474720"/>
            <a:ext cx="1463040" cy="34747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897880" y="34747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411480" y="3822192"/>
            <a:ext cx="128016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382219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Sarvam Chanakya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1691640" y="3822192"/>
            <a:ext cx="14173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91640" y="38221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(future)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108960" y="3822192"/>
            <a:ext cx="141732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108960" y="3822192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 (future)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526280" y="3822192"/>
            <a:ext cx="137160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526280" y="38221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897880" y="3822192"/>
            <a:ext cx="1463040" cy="347472"/>
          </a:xfrm>
          <a:prstGeom prst="rect">
            <a:avLst/>
          </a:prstGeom>
          <a:solidFill>
            <a:srgbClr val="1A2235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897880" y="382219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MoUs Feb 2026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11480" y="4169664"/>
            <a:ext cx="1280160" cy="347472"/>
          </a:xfrm>
          <a:prstGeom prst="rect">
            <a:avLst/>
          </a:prstGeom>
          <a:solidFill>
            <a:srgbClr val="1A2800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11480" y="4169664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Aadesh AI ✅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691640" y="4169664"/>
            <a:ext cx="1417320" cy="347472"/>
          </a:xfrm>
          <a:prstGeom prst="rect">
            <a:avLst/>
          </a:prstGeom>
          <a:solidFill>
            <a:srgbClr val="1A2800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691640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+ Private (KA)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108960" y="4169664"/>
            <a:ext cx="1417320" cy="347472"/>
          </a:xfrm>
          <a:prstGeom prst="rect">
            <a:avLst/>
          </a:prstGeom>
          <a:solidFill>
            <a:srgbClr val="1A2800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108960" y="4169664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Sarakari Kannada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4526280" y="4169664"/>
            <a:ext cx="1371600" cy="347472"/>
          </a:xfrm>
          <a:prstGeom prst="rect">
            <a:avLst/>
          </a:prstGeom>
          <a:solidFill>
            <a:srgbClr val="1A2800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526280" y="41696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per officer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897880" y="4169664"/>
            <a:ext cx="1463040" cy="347472"/>
          </a:xfrm>
          <a:prstGeom prst="rect">
            <a:avLst/>
          </a:prstGeom>
          <a:solidFill>
            <a:srgbClr val="1A2800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5897880" y="4169664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purpose-built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37744"/>
          </a:xfrm>
          <a:prstGeom prst="rect">
            <a:avLst>
              <a:gd name="adj" fmla="val 15385"/>
            </a:avLst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Tracks — Bottom-Up Officer, Top-Down Dept.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ಎರಡು ಆದಾಯ ಮಾರ್ಗಗಳು — ವ್ಯಕ್ತಿಯಿಂದ ಕಚೇರಿಗೆ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233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8A48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17320"/>
            <a:ext cx="4023360" cy="347472"/>
          </a:xfrm>
          <a:prstGeom prst="rect">
            <a:avLst/>
          </a:prstGeom>
          <a:solidFill>
            <a:srgbClr val="3B2012"/>
          </a:solidFill>
          <a:ln w="12700">
            <a:solidFill>
              <a:srgbClr val="3B20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356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1  |  Personal Subscription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Officer pays personally (like Netflix)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38658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 word-of-mouth referrals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8986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First order FREE → convert to ₹999 pack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4107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50+ users validate → office approval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9227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Avg revenue: ₹333–499/order × 5–15/mo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462272"/>
            <a:ext cx="3840480" cy="201168"/>
          </a:xfrm>
          <a:prstGeom prst="rect">
            <a:avLst/>
          </a:prstGeom>
          <a:solidFill>
            <a:srgbClr val="1A1000"/>
          </a:solidFill>
          <a:ln w="12700">
            <a:solidFill>
              <a:srgbClr val="6E3A1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4622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now — no procurement cycle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417320"/>
            <a:ext cx="4023360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C626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1417320"/>
            <a:ext cx="4023360" cy="347472"/>
          </a:xfrm>
          <a:prstGeom prst="rect">
            <a:avLst/>
          </a:prstGeom>
          <a:solidFill>
            <a:srgbClr val="0A2D30"/>
          </a:solidFill>
          <a:ln w="12700">
            <a:solidFill>
              <a:srgbClr val="0A2D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435608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2  |  Department Procurement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8745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₹4–5 lakh/year per office (KTPP threshold)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2386584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DC can approve directly — no tender needed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289864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KITS empanelment: ₹50L procurement enabled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410712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  GeM listing + DPIIT Startup India (free)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9227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5% Karnataka startup procurement quota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00600" y="4462272"/>
            <a:ext cx="3840480" cy="201168"/>
          </a:xfrm>
          <a:prstGeom prst="rect">
            <a:avLst/>
          </a:prstGeom>
          <a:solidFill>
            <a:srgbClr val="0A1A14"/>
          </a:solidFill>
          <a:ln w="12700">
            <a:solidFill>
              <a:srgbClr val="0C5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44622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₹40–50 Cr TAM — office-level contracts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37744"/>
          </a:xfrm>
          <a:prstGeom prst="rect">
            <a:avLst>
              <a:gd name="adj" fmla="val 15385"/>
            </a:avLst>
          </a:prstGeom>
          <a:solidFill>
            <a:srgbClr val="02C4B0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MOAT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Defensible Moats — Hard to Replicate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ರಕ್ಷಣಾತ್ಮಕ ಶಕ್ತಿಗಳು — ನಕಲು ಮಾಡಲು ಕಷ್ಟ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690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3B20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630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3A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147218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576-Order Sarakari Kannada Corpus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1819656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known training set of real, signed govt orders in Sarakari Kannada. Took months to collect. Every competitor starts from zero.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2514600"/>
            <a:ext cx="40690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E1C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56032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3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256946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Per-Officer Style Learning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2916936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officer's AI is trained on their own signed orders. District A's style is different from District B. Generic tools cannot replicate this.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3611880"/>
            <a:ext cx="40690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A2D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65760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50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8680" y="366674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Lock — Legal Accountability Shift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" y="4014216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verification before drafting. Shifts BNS legal accountability from AI to officer. No other tool has this safety architecture.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09160" y="1417320"/>
            <a:ext cx="40690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2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146304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4A3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66360" y="147218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 2023 Compliance Built-in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819656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masked before AI call. Citizen data stays in India. Required for any government procurement. Competitors will need months to build this.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2514600"/>
            <a:ext cx="40690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E1C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56032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3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166360" y="256946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RCCMS Integration Roadmap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66360" y="2916936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NIC's Revenue Court Case Monitoring System. Auto-pull case facts directly. No other product has this planned. Creates irreplaceable govt data moat.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709160" y="3611880"/>
            <a:ext cx="406908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2E1C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3657600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3C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166360" y="3666744"/>
            <a:ext cx="3520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RCCMS Integration Roadmap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66360" y="4014216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NIC's Revenue Court Case Monitoring System. Auto-pull case facts directly. No other product has this planned. Creates irreplaceable govt data moat.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MOAT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01168"/>
            <a:ext cx="1737360" cy="237744"/>
          </a:xfrm>
          <a:prstGeom prst="rect">
            <a:avLst>
              <a:gd name="adj" fmla="val 15385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512064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>
            <a:sp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 Risks. Clear Mitigations.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1170432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ಅಪಾಯಗಳು ಗೊತ್ತು. ಪರಿಹಾರ ಸಿದ್ಧ.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832104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17320"/>
            <a:ext cx="548640" cy="621792"/>
          </a:xfrm>
          <a:prstGeom prst="rect">
            <a:avLst/>
          </a:prstGeom>
          <a:solidFill>
            <a:srgbClr val="2A0C0E"/>
          </a:solidFill>
          <a:ln w="12700">
            <a:solidFill>
              <a:srgbClr val="2A0C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51560" y="145389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Sarvam Chanakya signs MoU with Karnataka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719072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6–18 month first-mover advantage. Our corpus + per-officer style learning = 18 months to replicate. Entity Lock is unique IP.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2075688"/>
            <a:ext cx="832104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075688"/>
            <a:ext cx="548640" cy="621792"/>
          </a:xfrm>
          <a:prstGeom prst="rect">
            <a:avLst/>
          </a:prstGeom>
          <a:solidFill>
            <a:srgbClr val="2E1C0A"/>
          </a:solidFill>
          <a:ln w="12700">
            <a:solidFill>
              <a:srgbClr val="2E1C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075688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51560" y="211226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Government officer adoption resistance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" y="2377440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First order FREE removes all friction. WhatsApp referrals proven. Track 1 (personal pay) bypasses IT procurement delays entirely.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734056"/>
            <a:ext cx="832104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734056"/>
            <a:ext cx="548640" cy="621792"/>
          </a:xfrm>
          <a:prstGeom prst="rect">
            <a:avLst/>
          </a:prstGeom>
          <a:solidFill>
            <a:srgbClr val="2E1C0A"/>
          </a:solidFill>
          <a:ln w="12700">
            <a:solidFill>
              <a:srgbClr val="2E1C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734056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051560" y="2770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Claude API cost increase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3035808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Switch to Sarvam 105B (91/100 score, FREE for Indian govt use). Dual-model architecture already built in pipeline.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" y="3392424"/>
            <a:ext cx="832104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392424"/>
            <a:ext cx="548640" cy="621792"/>
          </a:xfrm>
          <a:prstGeom prst="rect">
            <a:avLst/>
          </a:prstGeom>
          <a:solidFill>
            <a:srgbClr val="112B22"/>
          </a:solidFill>
          <a:ln w="12700">
            <a:solidFill>
              <a:srgbClr val="112B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392424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051560" y="34290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DPDP Act compliance liability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3694176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PII masked before API call. Anthropic DPA in progress. Data stays in India. Architecture designed for this from Day 1.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4050792"/>
            <a:ext cx="8321040" cy="621792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050792"/>
            <a:ext cx="548640" cy="621792"/>
          </a:xfrm>
          <a:prstGeom prst="rect">
            <a:avLst/>
          </a:prstGeom>
          <a:solidFill>
            <a:srgbClr val="112B22"/>
          </a:solidFill>
          <a:ln w="12700">
            <a:solidFill>
              <a:srgbClr val="112B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4050792"/>
            <a:ext cx="548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051560" y="4087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Quality below officer expectations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51560" y="4352544"/>
            <a:ext cx="7589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Current score: 89.2/100. Self-correction loop + 5 clarifying questions → target 95/100. Entity Lock keeps officer in control.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00A00"/>
          </a:solidFill>
          <a:ln w="12700">
            <a:solidFill>
              <a:srgbClr val="100A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45720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8600" y="1188720"/>
            <a:ext cx="3063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0" b="1" dirty="0">
                <a:solidFill>
                  <a:srgbClr val="E97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₹25</a:t>
            </a:r>
            <a:endParaRPr lang="en-US" sz="8600" dirty="0"/>
          </a:p>
        </p:txBody>
      </p:sp>
      <p:sp>
        <p:nvSpPr>
          <p:cNvPr id="6" name="Text 4"/>
          <p:cNvSpPr/>
          <p:nvPr/>
        </p:nvSpPr>
        <p:spPr>
          <a:xfrm>
            <a:off x="228600" y="25146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LAKH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28600" y="315468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~$30,000 USD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Convertible note or equity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840480"/>
            <a:ext cx="2606040" cy="36576"/>
          </a:xfrm>
          <a:prstGeom prst="rect">
            <a:avLst/>
          </a:prstGeom>
          <a:solidFill>
            <a:srgbClr val="6E3A1E"/>
          </a:solidFill>
          <a:ln w="12700">
            <a:solidFill>
              <a:srgbClr val="6E3A1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39319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runway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Phase 1 revenue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749040" y="457200"/>
            <a:ext cx="5029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  /  ₹25 ಲಕ್ಷ ವಿನಿಯೋಗ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49040" y="987552"/>
            <a:ext cx="50292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987552"/>
            <a:ext cx="1508760" cy="73152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0789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7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 ₹7.5L  —  Product &amp; AI Infra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1353312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API, Supabase scale, RCCMS integration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1737360"/>
            <a:ext cx="50292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737360"/>
            <a:ext cx="1257300" cy="73152"/>
          </a:xfrm>
          <a:prstGeom prst="rect">
            <a:avLst/>
          </a:prstGeom>
          <a:solidFill>
            <a:srgbClr val="02C4B0"/>
          </a:solidFill>
          <a:ln w="12700">
            <a:solidFill>
              <a:srgbClr val="02C4B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82880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₹6.25L  —  Sales &amp; Onboarding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10312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campaign, district officer demos, referral program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49040" y="2487168"/>
            <a:ext cx="50292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2487168"/>
            <a:ext cx="100584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257860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 ₹5L  —  Legal &amp; Compliance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40480" y="285292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Act, Anthropic DPA, KITS/GeM registration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749040" y="3236976"/>
            <a:ext cx="50292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3236976"/>
            <a:ext cx="754380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332841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 ₹3.75L  —  Team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840480" y="3602736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Kannada language expert + tester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49040" y="3986784"/>
            <a:ext cx="502920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49040" y="3986784"/>
            <a:ext cx="502920" cy="7315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0" y="40782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 ₹2.5L  —  Buffer &amp; RAI Committee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840480" y="4352544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12 submission + 90-day emergency reserve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70C18"/>
          </a:solidFill>
          <a:ln w="12700">
            <a:solidFill>
              <a:srgbClr val="070C1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0118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  |   Aadesh AI   ·   hello@aadesh-ai.in   ·   aadesh-ai.in   ·   Bengaluru, Karnataka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AI DRAFTING SYSTEM FOR GOVERNMENT ORDERS IN REGIONAL LANGUAGES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officer.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2984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ಯಾವ ಅಧಿಕಾರಿಯಾದರೂ.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181051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document type.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ಯಾವ ದಾಖಲೆ ಪ್ರಕಾರವಾದರೂ.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286000" y="2999232"/>
            <a:ext cx="4572000" cy="36576"/>
          </a:xfrm>
          <a:prstGeom prst="rect">
            <a:avLst/>
          </a:prstGeom>
          <a:solidFill>
            <a:srgbClr val="E97B3B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9067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97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 engine.  /  ಅದೇ ಯಂತ್ರ.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731520" y="3749040"/>
            <a:ext cx="457200" cy="457200"/>
          </a:xfrm>
          <a:prstGeom prst="ellipse">
            <a:avLst/>
          </a:prstGeom>
          <a:solidFill>
            <a:srgbClr val="3B2012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749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4005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dept. No visits.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3749040"/>
            <a:ext cx="457200" cy="457200"/>
          </a:xfrm>
          <a:prstGeom prst="ellipse">
            <a:avLst/>
          </a:prstGeom>
          <a:solidFill>
            <a:srgbClr val="3B2012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23360" y="3749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Per-Office AI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0" y="4005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office trains its own.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17920" y="3749040"/>
            <a:ext cx="457200" cy="457200"/>
          </a:xfrm>
          <a:prstGeom prst="ellipse">
            <a:avLst/>
          </a:prstGeom>
          <a:solidFill>
            <a:srgbClr val="3B2012"/>
          </a:solidFill>
          <a:ln w="12700">
            <a:solidFill>
              <a:srgbClr val="E97B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74904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→ 1,500+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4005072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here. Scales to Karnataka.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4315968"/>
            <a:ext cx="457200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43342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7B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ಆದೇಶ AI  |  Aadesh AI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286000" y="4608576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hello@aadesh-ai.in   ·   aadesh-ai.in   ·   Bengaluru, Karnataka, India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Aadesh AI — Investor Deck 2026</dc:title>
  <dc:subject>Seed Round ₹25 Lakh</dc:subject>
  <dc:creator>Aadesh AI Team</dc:creator>
  <cp:lastModifiedBy>Aadesh AI Team</cp:lastModifiedBy>
  <cp:revision>1</cp:revision>
  <dcterms:created xsi:type="dcterms:W3CDTF">2026-04-19T10:18:22Z</dcterms:created>
  <dcterms:modified xsi:type="dcterms:W3CDTF">2026-04-19T10:18:22Z</dcterms:modified>
</cp:coreProperties>
</file>